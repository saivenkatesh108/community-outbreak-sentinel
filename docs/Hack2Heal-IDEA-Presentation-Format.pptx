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FFE1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ho.int/standards/classifications/other-classifications/verbal-autopsy-standards-ascertaining-and-attributing-causes-of-death-tool?utm_source=gemini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hashini.gov.in/?utm_source=gemini" TargetMode="External"/><Relationship Id="rId5" Type="http://schemas.openxmlformats.org/officeDocument/2006/relationships/hyperlink" Target="https://idsp.mohfw.gov.in/?utm_source=gemini" TargetMode="External"/><Relationship Id="rId4" Type="http://schemas.openxmlformats.org/officeDocument/2006/relationships/hyperlink" Target="https://www.satscan.org/?utm_source=gemin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922257" y="1283303"/>
            <a:ext cx="9982753" cy="17526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Swis721 BlkEx BT" panose="020B0907040502030204" pitchFamily="34" charset="0"/>
                <a:cs typeface="Times New Roman" panose="02020603050405020304" pitchFamily="18" charset="0"/>
              </a:rPr>
              <a:t>SENTINEL — Community Outbreak Early Warning System</a:t>
            </a:r>
            <a:endParaRPr lang="en-IN" b="1" dirty="0">
              <a:solidFill>
                <a:schemeClr val="tx1"/>
              </a:solidFill>
              <a:latin typeface="Swis721 BlkEx BT" panose="020B09070405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764140" y="-335733"/>
            <a:ext cx="7508700" cy="2076450"/>
          </a:xfrm>
        </p:spPr>
        <p:txBody>
          <a:bodyPr/>
          <a:lstStyle/>
          <a:p>
            <a:r>
              <a:rPr lang="en-US" sz="4000" b="1" dirty="0">
                <a:solidFill>
                  <a:srgbClr val="00B050"/>
                </a:solidFill>
                <a:latin typeface="Montserrat Black" panose="00000A00000000000000" pitchFamily="2" charset="0"/>
              </a:rPr>
              <a:t>Hack2Heal 2.0</a:t>
            </a:r>
            <a:br>
              <a:rPr lang="en-US" sz="4000" b="1" dirty="0">
                <a:solidFill>
                  <a:schemeClr val="tx2"/>
                </a:solidFill>
                <a:latin typeface="Montserrat Black" panose="00000A00000000000000" pitchFamily="2" charset="0"/>
              </a:rPr>
            </a:br>
            <a:r>
              <a:rPr lang="en-US" sz="2400" b="1" i="1" dirty="0">
                <a:solidFill>
                  <a:schemeClr val="accent3">
                    <a:lumMod val="50000"/>
                  </a:schemeClr>
                </a:solidFill>
                <a:latin typeface="Montserrat Black" panose="00000A00000000000000" pitchFamily="2" charset="0"/>
              </a:rPr>
              <a:t>Global Healthcare Hackathon</a:t>
            </a:r>
            <a:endParaRPr lang="en-IN" sz="4000" b="1" i="1" dirty="0">
              <a:solidFill>
                <a:schemeClr val="accent3">
                  <a:lumMod val="50000"/>
                </a:schemeClr>
              </a:solidFill>
              <a:latin typeface="Montserrat Black" panose="00000A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1732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Sentinel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Lead – V.A SAI VENKATESH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373842" y="1500"/>
            <a:ext cx="1062337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084725-E01A-9B4B-253A-C4B0A768B0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46939" y="2218333"/>
            <a:ext cx="3145442" cy="31454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B05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763800" y="364835"/>
            <a:ext cx="10972800" cy="1143000"/>
          </a:xfrm>
        </p:spPr>
        <p:txBody>
          <a:bodyPr/>
          <a:lstStyle/>
          <a:p>
            <a:r>
              <a:rPr lang="en-US" sz="2800" b="1" dirty="0">
                <a:latin typeface="Swis721 BlkEx BT" panose="020B0907040502030204" pitchFamily="34" charset="0"/>
                <a:cs typeface="Times New Roman" panose="02020603050405020304" pitchFamily="18" charset="0"/>
              </a:rPr>
              <a:t>SENTINEL — Community Outbreak Early Warning System</a:t>
            </a:r>
            <a:endParaRPr lang="en-IN" sz="2800" b="1" dirty="0">
              <a:latin typeface="Swis721 BlkEx BT" panose="020B09070405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</a:p>
          <a:p>
            <a:endParaRPr lang="en-US" sz="3200" u="sng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  <a:p>
            <a:pPr lvl="0"/>
            <a:r>
              <a:rPr lang="en-IN" sz="2000" b="1" dirty="0"/>
              <a:t>Core Solution:</a:t>
            </a:r>
            <a:r>
              <a:rPr lang="en-IN" sz="2000" dirty="0"/>
              <a:t> A zero-cost outbreak early-warning system combining icon-based reporting, vernacular voice capture (</a:t>
            </a:r>
            <a:r>
              <a:rPr lang="en-IN" sz="2000" dirty="0" err="1"/>
              <a:t>Vosk</a:t>
            </a:r>
            <a:r>
              <a:rPr lang="en-IN" sz="2000" dirty="0"/>
              <a:t>/Bhashini), and spatiotemporal cluster analysis to detect disease patterns in rural areas. </a:t>
            </a:r>
          </a:p>
          <a:p>
            <a:pPr lvl="0"/>
            <a:r>
              <a:rPr lang="en-IN" sz="2000" b="1" dirty="0"/>
              <a:t>Addressing the Problem:</a:t>
            </a:r>
            <a:r>
              <a:rPr lang="en-IN" sz="2000" dirty="0"/>
              <a:t> Replaces complex, text-heavy tools with voice notes and messaging apps rural communities already use, connecting isolated household symptoms to alert local health </a:t>
            </a:r>
            <a:r>
              <a:rPr lang="en-IN" sz="2000" dirty="0" err="1"/>
              <a:t>centers</a:t>
            </a:r>
            <a:r>
              <a:rPr lang="en-IN" sz="2000" dirty="0"/>
              <a:t> before outbreaks spread. </a:t>
            </a:r>
          </a:p>
          <a:p>
            <a:pPr lvl="0"/>
            <a:r>
              <a:rPr lang="en-IN" sz="2000" b="1" dirty="0"/>
              <a:t>Innovation &amp; Uniqueness:</a:t>
            </a:r>
            <a:r>
              <a:rPr lang="en-IN" sz="2000" dirty="0"/>
              <a:t> Tracks multi-stage symptom progression instead of single keywords, and integrates automated WHO verbal autopsies to capture vital mortality data from unrecorded deaths. </a:t>
            </a: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Hack2Heal 2.0 Idea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72457" y="532668"/>
            <a:ext cx="1685840" cy="807334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Sentinel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7CA65B-416D-083C-9F41-24008AF62F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73842" y="1500"/>
            <a:ext cx="1062337" cy="1062337"/>
          </a:xfrm>
          <a:prstGeom prst="rect">
            <a:avLst/>
          </a:prstGeom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6E31BFC9-9CBB-C71A-13CA-5220CCFD5D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72457" y="266156"/>
            <a:ext cx="1685840" cy="1241679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Sentinel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B05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Swis721 BlkEx BT" panose="020B0907040502030204" pitchFamily="34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2297679"/>
            <a:ext cx="12113342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Technologies Used:</a:t>
            </a:r>
            <a:endParaRPr lang="en-IN" dirty="0"/>
          </a:p>
          <a:p>
            <a:pPr lvl="1"/>
            <a:r>
              <a:rPr lang="en-IN" b="1" dirty="0"/>
              <a:t>Intake &amp; Mobile:</a:t>
            </a:r>
            <a:r>
              <a:rPr lang="en-IN" dirty="0"/>
              <a:t> Flutter (icon-based UI), Telegram Bot API (voice/text). </a:t>
            </a:r>
          </a:p>
          <a:p>
            <a:pPr lvl="1"/>
            <a:r>
              <a:rPr lang="en-IN" b="1" dirty="0"/>
              <a:t>Speech &amp; AI:</a:t>
            </a:r>
            <a:r>
              <a:rPr lang="en-IN" dirty="0"/>
              <a:t> Bhashini, </a:t>
            </a:r>
            <a:r>
              <a:rPr lang="en-IN" dirty="0" err="1"/>
              <a:t>Vosk</a:t>
            </a:r>
            <a:r>
              <a:rPr lang="en-IN" dirty="0"/>
              <a:t>, Google Gemini API. </a:t>
            </a:r>
          </a:p>
          <a:p>
            <a:pPr lvl="1"/>
            <a:r>
              <a:rPr lang="en-IN" b="1" dirty="0"/>
              <a:t>Backend &amp; Analytics:</a:t>
            </a:r>
            <a:r>
              <a:rPr lang="en-IN" dirty="0"/>
              <a:t> Python (</a:t>
            </a:r>
            <a:r>
              <a:rPr lang="en-IN" dirty="0" err="1"/>
              <a:t>FastAPI</a:t>
            </a:r>
            <a:r>
              <a:rPr lang="en-IN" dirty="0"/>
              <a:t>), spatiotemporal scan statistics. </a:t>
            </a:r>
          </a:p>
          <a:p>
            <a:pPr lvl="1"/>
            <a:r>
              <a:rPr lang="en-IN" b="1" dirty="0"/>
              <a:t>Storage &amp; Hosting:</a:t>
            </a:r>
            <a:r>
              <a:rPr lang="en-IN" dirty="0"/>
              <a:t> </a:t>
            </a:r>
            <a:r>
              <a:rPr lang="en-IN" dirty="0" err="1"/>
              <a:t>Supabase</a:t>
            </a:r>
            <a:r>
              <a:rPr lang="en-IN" dirty="0"/>
              <a:t> (PostgreSQL + </a:t>
            </a:r>
            <a:r>
              <a:rPr lang="en-IN" dirty="0" err="1"/>
              <a:t>PostGIS</a:t>
            </a:r>
            <a:r>
              <a:rPr lang="en-IN" dirty="0"/>
              <a:t>), Redis, Render/</a:t>
            </a:r>
            <a:r>
              <a:rPr lang="en-IN" dirty="0" err="1"/>
              <a:t>Vercel</a:t>
            </a:r>
            <a:r>
              <a:rPr lang="en-IN" dirty="0"/>
              <a:t>. </a:t>
            </a:r>
          </a:p>
          <a:p>
            <a:pPr lvl="1"/>
            <a:endParaRPr lang="en-IN" dirty="0"/>
          </a:p>
          <a:p>
            <a:pPr lvl="0"/>
            <a:r>
              <a:rPr lang="en-IN" b="1" dirty="0"/>
              <a:t>Methodology &amp; Implementation:</a:t>
            </a:r>
            <a:endParaRPr lang="en-IN" dirty="0"/>
          </a:p>
          <a:p>
            <a:pPr lvl="1"/>
            <a:r>
              <a:rPr lang="en-IN" b="1" dirty="0"/>
              <a:t>Voice/Icon Reporting:</a:t>
            </a:r>
            <a:r>
              <a:rPr lang="en-IN" dirty="0"/>
              <a:t> Captures local dialect voice notes or tap-inputs without requiring literacy. </a:t>
            </a:r>
          </a:p>
          <a:p>
            <a:pPr lvl="1"/>
            <a:r>
              <a:rPr lang="en-IN" b="1" dirty="0"/>
              <a:t>AI Structuring:</a:t>
            </a:r>
            <a:r>
              <a:rPr lang="en-IN" dirty="0"/>
              <a:t> Transcribes vernacular audio and parses inputs into standardized symptom stages. </a:t>
            </a:r>
          </a:p>
          <a:p>
            <a:pPr lvl="1"/>
            <a:r>
              <a:rPr lang="en-IN" b="1" dirty="0"/>
              <a:t>Spatiotemporal Engine:</a:t>
            </a:r>
            <a:r>
              <a:rPr lang="en-IN" dirty="0"/>
              <a:t> Scans geographic progression patterns to detect micro-clusters before hospitals fill up. </a:t>
            </a:r>
          </a:p>
          <a:p>
            <a:pPr lvl="1"/>
            <a:r>
              <a:rPr lang="en-IN" b="1" dirty="0"/>
              <a:t>WHO Verbal Autopsy:</a:t>
            </a:r>
            <a:r>
              <a:rPr lang="en-IN" dirty="0"/>
              <a:t> Gathers voice-based illness histories for unrecorded deaths to recover lost mortality data. </a:t>
            </a:r>
          </a:p>
          <a:p>
            <a:pPr lvl="1"/>
            <a:r>
              <a:rPr lang="en-IN" b="1" dirty="0"/>
              <a:t>Automated Escalation:</a:t>
            </a:r>
            <a:r>
              <a:rPr lang="en-IN" dirty="0"/>
              <a:t> Triggers real-time alerts to local Primary Health Centres and district dashboards.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Hack2Heal 2.0 Idea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B9E130-350A-225B-7F5B-AB06069716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73842" y="1500"/>
            <a:ext cx="1062337" cy="1062337"/>
          </a:xfrm>
          <a:prstGeom prst="rect">
            <a:avLst/>
          </a:prstGeom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586510E3-1FD5-9C78-24F3-556C7E5C9CB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72457" y="98323"/>
            <a:ext cx="1685840" cy="1241679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Sentinel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B05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Swis721 BlkEx BT" panose="020B0907040502030204" pitchFamily="34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1509259"/>
            <a:ext cx="12270658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/>
              <a:t>Feasibility</a:t>
            </a:r>
            <a:endParaRPr lang="en-IN" sz="2000" dirty="0"/>
          </a:p>
          <a:p>
            <a:pPr lvl="0"/>
            <a:r>
              <a:rPr lang="en-IN" sz="2000" b="1" dirty="0"/>
              <a:t>Adoption:</a:t>
            </a:r>
            <a:r>
              <a:rPr lang="en-IN" sz="2000" dirty="0"/>
              <a:t> Uses pre-existing habits (voice notes on messaging apps) with zero training curve. </a:t>
            </a:r>
          </a:p>
          <a:p>
            <a:pPr lvl="0"/>
            <a:r>
              <a:rPr lang="en-IN" sz="2000" b="1" dirty="0"/>
              <a:t>Cost:</a:t>
            </a:r>
            <a:r>
              <a:rPr lang="en-IN" sz="2000" dirty="0"/>
              <a:t> Operates entirely on free-tier cloud tools and India's open Bhashini AI. </a:t>
            </a:r>
          </a:p>
          <a:p>
            <a:pPr lvl="0"/>
            <a:endParaRPr lang="en-IN" sz="2000" dirty="0"/>
          </a:p>
          <a:p>
            <a:r>
              <a:rPr lang="en-IN" sz="2000" b="1" dirty="0"/>
              <a:t>Challenges &amp; Risks</a:t>
            </a:r>
            <a:endParaRPr lang="en-IN" sz="2000" dirty="0"/>
          </a:p>
          <a:p>
            <a:pPr lvl="0"/>
            <a:r>
              <a:rPr lang="en-IN" sz="2000" b="1" dirty="0"/>
              <a:t>Adoption:</a:t>
            </a:r>
            <a:r>
              <a:rPr lang="en-IN" sz="2000" dirty="0"/>
              <a:t> Low literacy levels and rural smartphone discomfort. </a:t>
            </a:r>
          </a:p>
          <a:p>
            <a:pPr lvl="0"/>
            <a:r>
              <a:rPr lang="en-IN" sz="2000" b="1" dirty="0"/>
              <a:t>Data Quality:</a:t>
            </a:r>
            <a:r>
              <a:rPr lang="en-IN" sz="2000" dirty="0"/>
              <a:t> Regional dialect diversity and background audio noise. </a:t>
            </a:r>
          </a:p>
          <a:p>
            <a:pPr lvl="0"/>
            <a:r>
              <a:rPr lang="en-IN" sz="2000" b="1" dirty="0"/>
              <a:t>Operations:</a:t>
            </a:r>
            <a:r>
              <a:rPr lang="en-IN" sz="2000" dirty="0"/>
              <a:t> False alarms overloading Primary Health Centre staff. </a:t>
            </a:r>
          </a:p>
          <a:p>
            <a:pPr lvl="0"/>
            <a:r>
              <a:rPr lang="en-IN" sz="2000" b="1" dirty="0"/>
              <a:t>Cultural:</a:t>
            </a:r>
            <a:r>
              <a:rPr lang="en-IN" sz="2000" dirty="0"/>
              <a:t> Navigating bereavement sensitively during post-mortem reporting. </a:t>
            </a:r>
          </a:p>
          <a:p>
            <a:pPr lvl="0"/>
            <a:endParaRPr lang="en-IN" sz="2000" dirty="0"/>
          </a:p>
          <a:p>
            <a:r>
              <a:rPr lang="en-IN" sz="2000" b="1" dirty="0"/>
              <a:t>Mitigation Strategies</a:t>
            </a:r>
            <a:endParaRPr lang="en-IN" sz="2000" dirty="0"/>
          </a:p>
          <a:p>
            <a:pPr lvl="0"/>
            <a:r>
              <a:rPr lang="en-IN" sz="2000" b="1" dirty="0"/>
              <a:t>Zero-Text UX:</a:t>
            </a:r>
            <a:r>
              <a:rPr lang="en-IN" sz="2000" dirty="0"/>
              <a:t> Icon-first app paired with vernacular voice capture. </a:t>
            </a:r>
          </a:p>
          <a:p>
            <a:pPr lvl="0"/>
            <a:r>
              <a:rPr lang="en-IN" sz="2000" b="1" dirty="0"/>
              <a:t>Hybrid STT:</a:t>
            </a:r>
            <a:r>
              <a:rPr lang="en-IN" sz="2000" dirty="0"/>
              <a:t> </a:t>
            </a:r>
            <a:r>
              <a:rPr lang="en-IN" sz="2000" dirty="0" err="1"/>
              <a:t>Vosk</a:t>
            </a:r>
            <a:r>
              <a:rPr lang="en-IN" sz="2000" dirty="0"/>
              <a:t> offline engine backed by Bhashini speech models. </a:t>
            </a:r>
          </a:p>
          <a:p>
            <a:pPr lvl="0"/>
            <a:r>
              <a:rPr lang="en-IN" sz="2000" b="1" dirty="0"/>
              <a:t>Progression Filters:</a:t>
            </a:r>
            <a:r>
              <a:rPr lang="en-IN" sz="2000" dirty="0"/>
              <a:t> Alerts trigger only on multi-case symptom progressions, not raw counts. </a:t>
            </a:r>
          </a:p>
          <a:p>
            <a:pPr lvl="0"/>
            <a:r>
              <a:rPr lang="en-IN" sz="2000" b="1" dirty="0"/>
              <a:t>WHO Framework:</a:t>
            </a:r>
            <a:r>
              <a:rPr lang="en-IN" sz="2000" dirty="0"/>
              <a:t> Low-burden, respectful voice flows designed specifically for grieving families.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Hack2Heal 2.0 Idea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700854-955C-05D5-844B-3E958AE1F8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73842" y="1500"/>
            <a:ext cx="1062337" cy="1062337"/>
          </a:xfrm>
          <a:prstGeom prst="rect">
            <a:avLst/>
          </a:prstGeom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062554C8-1EAF-81D3-88CF-5983C0D24D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72457" y="98323"/>
            <a:ext cx="1685840" cy="1241679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Sentinel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B05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Swis721 BlkEx BT" panose="020B0907040502030204" pitchFamily="34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2179686"/>
            <a:ext cx="1211334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/>
              <a:t>Target Audience Impact</a:t>
            </a:r>
            <a:endParaRPr lang="en-IN" sz="2000" dirty="0"/>
          </a:p>
          <a:p>
            <a:pPr lvl="0"/>
            <a:r>
              <a:rPr lang="en-IN" sz="2000" b="1" dirty="0"/>
              <a:t>Villagers:</a:t>
            </a:r>
            <a:r>
              <a:rPr lang="en-IN" sz="2000" dirty="0"/>
              <a:t> Report illness instantly via voice in local dialects without needing literacy or digital skills. </a:t>
            </a:r>
          </a:p>
          <a:p>
            <a:pPr lvl="0"/>
            <a:r>
              <a:rPr lang="en-IN" sz="2000" b="1" dirty="0"/>
              <a:t>ASHA Workers:</a:t>
            </a:r>
            <a:r>
              <a:rPr lang="en-IN" sz="2000" dirty="0"/>
              <a:t> Gain early cluster warnings, replacing guesswork with clear, targeted intervention areas. </a:t>
            </a:r>
          </a:p>
          <a:p>
            <a:pPr lvl="0"/>
            <a:r>
              <a:rPr lang="en-IN" sz="2000" b="1" dirty="0"/>
              <a:t>Primary Health Centres:</a:t>
            </a:r>
            <a:r>
              <a:rPr lang="en-IN" sz="2000" dirty="0"/>
              <a:t> Receive real-time geographic alerts, enabling rapid containment before clinics overflow.</a:t>
            </a:r>
          </a:p>
          <a:p>
            <a:pPr lvl="0"/>
            <a:r>
              <a:rPr lang="en-IN" sz="2000" dirty="0"/>
              <a:t> </a:t>
            </a:r>
          </a:p>
          <a:p>
            <a:r>
              <a:rPr lang="en-IN" sz="2000" b="1" dirty="0"/>
              <a:t>Key Benefits</a:t>
            </a:r>
            <a:endParaRPr lang="en-IN" sz="2000" dirty="0"/>
          </a:p>
          <a:p>
            <a:pPr lvl="0"/>
            <a:r>
              <a:rPr lang="en-IN" sz="2000" b="1" dirty="0"/>
              <a:t>Social:</a:t>
            </a:r>
            <a:r>
              <a:rPr lang="en-IN" sz="2000" dirty="0"/>
              <a:t> Protects vulnerable rural families and recovers critical cause-of-death data from unrecorded fatalities. </a:t>
            </a:r>
          </a:p>
          <a:p>
            <a:pPr lvl="0"/>
            <a:r>
              <a:rPr lang="en-IN" sz="2000" b="1" dirty="0"/>
              <a:t>Economic:</a:t>
            </a:r>
            <a:r>
              <a:rPr lang="en-IN" sz="2000" dirty="0"/>
              <a:t> Cuts outbreak response expenses and operates on a zero-recurring-cost cloud infrastructure. </a:t>
            </a:r>
          </a:p>
          <a:p>
            <a:pPr lvl="0"/>
            <a:r>
              <a:rPr lang="en-IN" sz="2000" b="1" dirty="0"/>
              <a:t>Systemic:</a:t>
            </a:r>
            <a:r>
              <a:rPr lang="en-IN" sz="2000" dirty="0"/>
              <a:t> Modernizes rural disease surveillance by linking remote villages directly to district health systems.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Hack2Heal 2.0 Idea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710068-2031-7D11-89D0-3D8332A8C0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73842" y="1500"/>
            <a:ext cx="1062337" cy="1062337"/>
          </a:xfrm>
          <a:prstGeom prst="rect">
            <a:avLst/>
          </a:prstGeom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F49D08D5-4C46-7661-0153-C567A68523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72457" y="98323"/>
            <a:ext cx="1685840" cy="1241679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Sentinel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B05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latin typeface="Swis721 BlkEx BT" panose="020B0907040502030204" pitchFamily="34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8826" y="2795263"/>
            <a:ext cx="12123174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/>
              <a:t>References &amp; Research Work</a:t>
            </a:r>
            <a:endParaRPr lang="en-IN" sz="2000" dirty="0"/>
          </a:p>
          <a:p>
            <a:pPr lvl="0"/>
            <a:r>
              <a:rPr lang="en-IN" sz="2000" b="1" dirty="0"/>
              <a:t>WHO Verbal Autopsy Standards:</a:t>
            </a:r>
            <a:r>
              <a:rPr lang="en-IN" sz="2000" dirty="0"/>
              <a:t> Built on the </a:t>
            </a:r>
            <a:r>
              <a:rPr lang="en-IN" sz="2000" i="1" dirty="0"/>
              <a:t>WHO Verbal Autopsy Instrument</a:t>
            </a:r>
            <a:r>
              <a:rPr lang="en-IN" sz="2000" dirty="0"/>
              <a:t> (WHO Standards for Ascertaining and Attributing Causes of Death) for structured post-mortem voice capture. Link: </a:t>
            </a:r>
            <a:r>
              <a:rPr lang="en-IN" sz="2000" dirty="0">
                <a:hlinkClick r:id="rId3"/>
              </a:rPr>
              <a:t>who.int</a:t>
            </a:r>
            <a:r>
              <a:rPr lang="en-IN" sz="2000" dirty="0"/>
              <a:t> </a:t>
            </a:r>
          </a:p>
          <a:p>
            <a:pPr lvl="0"/>
            <a:r>
              <a:rPr lang="en-IN" sz="2000" b="1" dirty="0"/>
              <a:t>Spatiotemporal Outbreak Detection:</a:t>
            </a:r>
            <a:r>
              <a:rPr lang="en-IN" sz="2000" dirty="0"/>
              <a:t> Implements principles from </a:t>
            </a:r>
            <a:r>
              <a:rPr lang="en-IN" sz="2000" i="1" dirty="0"/>
              <a:t>Martin Kulldorff's Space-Time Scan Statistics</a:t>
            </a:r>
            <a:r>
              <a:rPr lang="en-IN" sz="2000" dirty="0"/>
              <a:t> (</a:t>
            </a:r>
            <a:r>
              <a:rPr lang="en-IN" sz="2000" dirty="0" err="1"/>
              <a:t>SaTScan</a:t>
            </a:r>
            <a:r>
              <a:rPr lang="en-IN" sz="2000" dirty="0"/>
              <a:t> methodology) for localized epidemiological cluster detection. Link: </a:t>
            </a:r>
            <a:r>
              <a:rPr lang="en-IN" sz="2000" dirty="0">
                <a:hlinkClick r:id="rId4"/>
              </a:rPr>
              <a:t>satscan.org</a:t>
            </a:r>
            <a:r>
              <a:rPr lang="en-IN" sz="2000" dirty="0"/>
              <a:t> </a:t>
            </a:r>
          </a:p>
          <a:p>
            <a:pPr lvl="0"/>
            <a:r>
              <a:rPr lang="en-IN" sz="2000" b="1" dirty="0"/>
              <a:t>National Disease Surveillance Framework:</a:t>
            </a:r>
            <a:r>
              <a:rPr lang="en-IN" sz="2000" dirty="0"/>
              <a:t> Aligned with India's </a:t>
            </a:r>
            <a:r>
              <a:rPr lang="en-IN" sz="2000" i="1" dirty="0"/>
              <a:t>Integrated Disease Surveillance Programme (IDSP)</a:t>
            </a:r>
            <a:r>
              <a:rPr lang="en-IN" sz="2000" dirty="0"/>
              <a:t> guidelines for rural district reporting. Link: </a:t>
            </a:r>
            <a:r>
              <a:rPr lang="en-IN" sz="2000" dirty="0">
                <a:hlinkClick r:id="rId5"/>
              </a:rPr>
              <a:t>idsp.mohfw.gov.in</a:t>
            </a:r>
            <a:r>
              <a:rPr lang="en-IN" sz="2000" dirty="0"/>
              <a:t> </a:t>
            </a:r>
          </a:p>
          <a:p>
            <a:pPr lvl="0"/>
            <a:r>
              <a:rPr lang="en-IN" sz="2000" b="1" dirty="0"/>
              <a:t>Indic Speech AI Infrastructure:</a:t>
            </a:r>
            <a:r>
              <a:rPr lang="en-IN" sz="2000" dirty="0"/>
              <a:t> Powered by </a:t>
            </a:r>
            <a:r>
              <a:rPr lang="en-IN" sz="2000" i="1" dirty="0"/>
              <a:t>Project Bhashini (National Language Translation Mission, </a:t>
            </a:r>
            <a:r>
              <a:rPr lang="en-IN" sz="2000" i="1" dirty="0" err="1"/>
              <a:t>MeitY</a:t>
            </a:r>
            <a:r>
              <a:rPr lang="en-IN" sz="2000" i="1" dirty="0"/>
              <a:t>)</a:t>
            </a:r>
            <a:r>
              <a:rPr lang="en-IN" sz="2000" dirty="0"/>
              <a:t> for regional voice transcription. Link: </a:t>
            </a:r>
            <a:r>
              <a:rPr lang="en-IN" sz="2000" dirty="0">
                <a:hlinkClick r:id="rId6"/>
              </a:rPr>
              <a:t>bhashini.gov.in</a:t>
            </a:r>
            <a:r>
              <a:rPr lang="en-IN" sz="2000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Hack2Heal 2.0 Idea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AA60CB-5A5F-3F39-F7BB-ADAEA2EE4E2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373842" y="1500"/>
            <a:ext cx="1062337" cy="1062337"/>
          </a:xfrm>
          <a:prstGeom prst="rect">
            <a:avLst/>
          </a:prstGeom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F46A6EFC-B7DB-2621-2414-1CD34068EB9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72457" y="98323"/>
            <a:ext cx="1685840" cy="1241679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Sentinel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7764</TotalTime>
  <Words>690</Words>
  <Application>Microsoft Office PowerPoint</Application>
  <PresentationFormat>Widescreen</PresentationFormat>
  <Paragraphs>81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Montserrat Black</vt:lpstr>
      <vt:lpstr>Swis721 BlkEx BT</vt:lpstr>
      <vt:lpstr>TradeGothic</vt:lpstr>
      <vt:lpstr>Wingdings</vt:lpstr>
      <vt:lpstr>Office Theme</vt:lpstr>
      <vt:lpstr>Hack2Heal 2.0 Global Healthcare Hackathon</vt:lpstr>
      <vt:lpstr>SENTINEL — Community Outbreak Early Warning System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sai venkatesh</cp:lastModifiedBy>
  <cp:revision>154</cp:revision>
  <dcterms:created xsi:type="dcterms:W3CDTF">2013-12-12T18:46:50Z</dcterms:created>
  <dcterms:modified xsi:type="dcterms:W3CDTF">2026-09-18T15:02:34Z</dcterms:modified>
  <cp:category/>
</cp:coreProperties>
</file>